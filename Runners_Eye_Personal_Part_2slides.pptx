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ce3f54546a4734" /><Relationship Type="http://schemas.openxmlformats.org/officeDocument/2006/relationships/extended-properties" Target="/docProps/app.xml" Id="R5d66d0cea8cf4758" /><Relationship Type="http://schemas.openxmlformats.org/officeDocument/2006/relationships/officeDocument" Target="/ppt/presentation.xml" Id="R8e19201269a044b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f4f2dd1302547dd"/>
  </p:sldMasterIdLst>
  <p:notesMasterIdLst>
    <p:notesMasterId xmlns:r="http://schemas.openxmlformats.org/officeDocument/2006/relationships" r:id="R0b743f52bc1e4031"/>
  </p:notesMasterIdLst>
  <p:sldIdLst>
    <p:sldId xmlns:r="http://schemas.openxmlformats.org/officeDocument/2006/relationships" id="256" r:id="R641809478c8a4086"/>
    <p:sldId xmlns:r="http://schemas.openxmlformats.org/officeDocument/2006/relationships" id="257" r:id="R0f4aa0afafa84e2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3fcace09194410" /><Relationship Type="http://schemas.openxmlformats.org/officeDocument/2006/relationships/slideMaster" Target="/ppt/slideMasters/slideMaster1.xml" Id="R4f4f2dd1302547dd" /><Relationship Type="http://schemas.openxmlformats.org/officeDocument/2006/relationships/notesMaster" Target="/ppt/notesMasters/notesMaster1.xml" Id="R0b743f52bc1e4031" /><Relationship Type="http://schemas.openxmlformats.org/officeDocument/2006/relationships/presProps" Target="/ppt/presProps.xml" Id="R0a6cd1cf371d4742" /><Relationship Type="http://schemas.openxmlformats.org/officeDocument/2006/relationships/tableStyles" Target="/ppt/tableStyles.xml" Id="R2146a6ea15a748a7" /><Relationship Type="http://schemas.openxmlformats.org/officeDocument/2006/relationships/slide" Target="/ppt/slides/slide1.xml" Id="R641809478c8a4086" /><Relationship Type="http://schemas.openxmlformats.org/officeDocument/2006/relationships/slide" Target="/ppt/slides/slide2.xml" Id="R0f4aa0afafa84e2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ae0a00c86814f4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a02a142f94d0c" /><Relationship Type="http://schemas.openxmlformats.org/officeDocument/2006/relationships/notesMaster" Target="/ppt/notesMasters/notesMaster1.xml" Id="Raabee957a593495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65c10f1fb7a42d9" /><Relationship Type="http://schemas.openxmlformats.org/officeDocument/2006/relationships/notesMaster" Target="/ppt/notesMasters/notesMaster1.xml" Id="Ra0cde4f94e6a47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영상은 FPS, 해상도, 압축률이 서로 다릅니다. 이런 차이가 분석 시간과 자세 피처의 신뢰도에 영향을 줄 수 있다는 가설에서 전처리 실험과 모니터링을 시작했습니다. 이번 자료는 피처 신뢰도 향상을 실증했다고 단정하지 않고, 권장 영상 조건을 찾기 위한 목적을 설명합니다.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동일한 약 4.25초 영상을 CPU와 GPU에서 각각 두 차례 처리한 Grafana 측정 결과입니다. CPU는 17.113초와 16.640초, GPU는 8.648초와 8.899초였습니다. 제공된 중앙값은 CPU 16.876초, GPU 8.773초이며 중앙값 기준 단축률은 48.01%입니다. 두 차례 측정에서 비슷한 차이를 확인했습니다.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c4b2055fd68487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7476496638f472b" /><Relationship Type="http://schemas.openxmlformats.org/officeDocument/2006/relationships/slideLayout" Target="/ppt/slideLayouts/slideLayout1.xml" Id="R952a9a339af746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2a9a339af746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ec4243b904818" /><Relationship Type="http://schemas.openxmlformats.org/officeDocument/2006/relationships/notesSlide" Target="/ppt/notesSlides/notesSlide1.xml" Id="R8e037bf55b7b4c2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1a70ecb87042fb" /><Relationship Type="http://schemas.openxmlformats.org/officeDocument/2006/relationships/chart" Target="/ppt/slides/charts/chart1.xml" Id="Rad8a4931c38d492b" /><Relationship Type="http://schemas.openxmlformats.org/officeDocument/2006/relationships/notesSlide" Target="/ppt/notesSlides/notesSlide2.xml" Id="R05c57fd1f67e457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CPU</c:v>
          </c:tx>
          <c:spPr>
            <a:solidFill xmlns:a="http://schemas.openxmlformats.org/drawingml/2006/main">
              <a:srgbClr val="79859B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8FAFC"/>
                        </a:solidFill>
                        <a:latin typeface="Noto Sans KR"/>
                        <a:ea typeface="Noto Sans KR"/>
                        <a:cs typeface="Noto Sans KR"/>
                      </a:rPr>
                      <a:t>17.113초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8FAFC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8FAFC"/>
                        </a:solidFill>
                        <a:latin typeface="Noto Sans KR"/>
                        <a:ea typeface="Noto Sans KR"/>
                        <a:cs typeface="Noto Sans KR"/>
                      </a:rPr>
                      <a:t>16.640초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8FAFC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1회차</c:v>
                </c:pt>
                <c:pt idx="1">
                  <c:v>2회차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17.113</c:v>
                </c:pt>
                <c:pt idx="1">
                  <c:v>16.64</c:v>
                </c:pt>
              </c:numCache>
            </c:numRef>
          </c:val>
        </c:ser>
        <c:ser>
          <c:idx val="1"/>
          <c:order val="1"/>
          <c:tx>
            <c:v>GPU</c:v>
          </c:tx>
          <c:spPr>
            <a:solidFill xmlns:a="http://schemas.openxmlformats.org/drawingml/2006/main">
              <a:srgbClr val="38D6FF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8FAFC"/>
                        </a:solidFill>
                        <a:latin typeface="Noto Sans KR"/>
                        <a:ea typeface="Noto Sans KR"/>
                        <a:cs typeface="Noto Sans KR"/>
                      </a:rPr>
                      <a:t>8.648초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8FAFC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900" b="1">
                        <a:solidFill>
                          <a:srgbClr val="F8FAFC"/>
                        </a:solidFill>
                        <a:latin typeface="Noto Sans KR"/>
                        <a:ea typeface="Noto Sans KR"/>
                        <a:cs typeface="Noto Sans KR"/>
                      </a:rPr>
                      <a:t>8.899초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900" b="1">
                      <a:solidFill>
                        <a:srgbClr val="F8FAFC"/>
                      </a:solidFill>
                      <a:latin typeface="Noto Sans KR"/>
                      <a:ea typeface="Noto Sans KR"/>
                      <a:cs typeface="Noto Sans KR"/>
                    </a:defRPr>
                  </a:pPr>
                </a:p>
              </c:txPr>
              <c:dLblPos val="outEnd"/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Data'!$C$2:$C$3</c:f>
              <c:strCache>
                <c:ptCount val="2"/>
                <c:pt idx="0">
                  <c:v>1회차</c:v>
                </c:pt>
                <c:pt idx="1">
                  <c:v>2회차</c:v>
                </c:pt>
              </c:strCache>
            </c:strRef>
          </c:cat>
          <c:val>
            <c:numRef>
              <c:f>'Chart Data'!$D$2:$D$3</c:f>
              <c:numCache>
                <c:formatCode>General</c:formatCode>
                <c:ptCount val="2"/>
                <c:pt idx="0">
                  <c:v>8.648</c:v>
                </c:pt>
                <c:pt idx="1">
                  <c:v>8.899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F8FAFC"/>
                  </a:solidFill>
                  <a:latin typeface="Noto Sans KR"/>
                  <a:ea typeface="Noto Sans KR"/>
                  <a:cs typeface="Noto Sans K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051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72768"/>
      </c:catAx>
      <c:valAx>
        <c:axId val="48672768"/>
        <c:scaling>
          <c:orientation val="minMax"/>
          <c:max val="2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0516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</a:p>
        </c:txPr>
        <c:crossAx val="48650112"/>
        <c:crossBetween val="between"/>
        <c:majorUnit val="5"/>
      </c:valAx>
      <c:spPr>
        <a:solidFill xmlns:a="http://schemas.openxmlformats.org/drawingml/2006/main">
          <a:srgbClr val="091321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F8FAFC"/>
              </a:solidFill>
              <a:latin typeface="Noto Sans KR"/>
              <a:ea typeface="Noto Sans KR"/>
              <a:cs typeface="Noto Sans KR"/>
            </a:defRPr>
          </a:pPr>
        </a:p>
      </c:txPr>
    </c:legend>
    <c:plotVisOnly val="1"/>
  </c:chart>
  <c:spPr>
    <a:solidFill xmlns:a="http://schemas.openxmlformats.org/drawingml/2006/main">
      <a:srgbClr val="091321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75A397-E90A-4620-8308-CA2F9036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TECH PART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74BF06-B8CB-41D8-9790-707F50D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영상 조건 표준화와 성능 모니터링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8A9A10-4D65-4D73-9CA5-FD001F196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7A8FC1-440B-4250-ABCC-501079D1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사용자마다 촬영 조건이 달라 분석 시간과 자세 피처의 신뢰도에 영향을 줄 수 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236A8-C966-4DF3-9BDC-144FB4E1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전처리 실험 흐름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D8F7AA-3167-4800-9717-C5FBC7F0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FF70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D4C2E8-73D6-4C79-BE78-41512021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43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다양한 사용자 영상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A49A03-F592-4679-A8E6-5EB249D8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촬영·업로드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B546EF-A6E4-41F9-ADA2-BFA9F5EA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38D6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87C01-5C0E-4F5C-BDD1-9017EDE1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43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영상 조건 조정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DEF5A6-0BA4-46E7-9607-E083AE4AC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FPS·해상도·압축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65FA68-01F5-4528-85C2-87312663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38D6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4A973B-4C4A-4A65-85E0-27DD1EDD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자세 추론 실행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45C2E-F84F-4019-81D1-D0A1CB38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동일 파이프라인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FDF8FD-D900-45DD-B89A-8216DFFE1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8B7C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46865-17D1-4956-A608-8B65A27C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43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품질·시간 비교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85FAF3-0726-4A63-AD30-6BEA08042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피처 품질·처리시간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AFD95D-35BC-4A3A-ADE4-81FCECFA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8478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D8FF3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030066-F78E-447D-A531-D3EC5F39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43175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권장 조건 결정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4AE073-6305-4C40-A917-293F2F7D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76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신뢰도 유지·연산 절감</a:t>
            </a:r>
          </a:p>
        </p:txBody>
      </p:sp>
      <p:cxnSp>
        <p:nvCxnSpPr>
          <p:cNvPr id="57" name=""/>
          <p:cNvCxnSpPr>
            <a:stCxn xmlns:a="http://schemas.openxmlformats.org/drawingml/2006/main" id="6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457450" y="2819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B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705350" y="2819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B"/>
            </a:solidFill>
            <a:prstDash val="solid"/>
            <a:tailEnd type="triangle" w="sm" len="sm"/>
          </a:ln>
        </p:spPr>
      </p:cxnSp>
      <p:cxnSp>
        <p:nvCxnSpPr>
          <p:cNvPr id="59" name=""/>
          <p:cNvCxnSpPr>
            <a:stCxn xmlns:a="http://schemas.openxmlformats.org/drawingml/2006/main" id="12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53250" y="2819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B"/>
            </a:solidFill>
            <a:prstDash val="solid"/>
            <a:tailEnd type="triangle" w="sm" len="sm"/>
          </a:ln>
        </p:spPr>
      </p:cxnSp>
      <p:cxnSp>
        <p:nvCxnSpPr>
          <p:cNvPr id="60" name=""/>
          <p:cNvCxnSpPr>
            <a:stCxn xmlns:a="http://schemas.openxmlformats.org/drawingml/2006/main" id="15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201150" y="2819400"/>
            <a:ext cx="400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75859B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755A81-E414-4BCA-AFCC-2A5B5134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모니터링 구성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CA660FD-08FB-4352-A131-AF71FC98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10839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516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36C072-071E-4284-8A93-CE59DF98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6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8D6FF"/>
                </a:solidFill>
                <a:latin typeface="Noto Sans KR"/>
                <a:ea typeface="Noto Sans KR"/>
                <a:cs typeface="Noto Sans KR"/>
              </a:rPr>
              <a:t>cAdvisor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DCFD74-8C29-47FF-8166-7E17C595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영상 분석 컨테이너의</a:t>
            </a:r>
          </a:p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CPU·메모리 사용량 측정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1B38DB-BD53-4D49-9147-F34B5313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2100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8D6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38D6FF"/>
                </a:solidFill>
                <a:latin typeface="Noto Sans KR"/>
                <a:ea typeface="Noto Sans KR"/>
                <a:cs typeface="Noto Sans KR"/>
              </a:rPr>
              <a:t>Node Exporter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58D2E4-9364-479D-93FD-6FF11716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148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OCI 서버 전체의</a:t>
            </a:r>
          </a:p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자원 사용량 측정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961A3-DEE3-49AC-AF16-6B892935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100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8B7CFF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8B7CFF"/>
                </a:solidFill>
                <a:latin typeface="Noto Sans KR"/>
                <a:ea typeface="Noto Sans KR"/>
                <a:cs typeface="Noto Sans KR"/>
              </a:rPr>
              <a:t>Prometheus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AC3A1F-9CC1-4790-8A96-DB6D75E8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514850"/>
            <a:ext cx="2238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측정 지표를</a:t>
            </a:r>
          </a:p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시계열 데이터로 수집·저장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18DDF4-6EA8-4E53-9A5D-70A1832B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210050"/>
            <a:ext cx="2238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Grafana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523CF1-45C9-42A9-A32E-7F7CE3C6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14850"/>
            <a:ext cx="2552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처리시간과 자원 사용량을</a:t>
            </a:r>
          </a:p>
          <a:p xmlns:a="http://schemas.openxmlformats.org/drawingml/2006/main">
            <a:pPr algn="l">
              <a:def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차트와 대시보드로 시각화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F7BF94-20BF-4D54-BD13-CC028DF8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108394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D8FF3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FB151EB-B02E-476B-99B4-10DC0FCE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0306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피처 신뢰도를 유지하면서 분석 시간을 줄일 수 있는 영상 조건을 찾고자 했다</a:t>
            </a:r>
          </a:p>
        </p:txBody>
      </p:sp>
    </p:spTree>
    <p:extLst>
      <p:ext uri="{BB962C8B-B14F-4D97-AF65-F5344CB8AC3E}">
        <p14:creationId xmlns:p14="http://schemas.microsoft.com/office/powerpoint/2010/main" val="4790101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132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266C84-2343-4CA7-8217-16DCCA12E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050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TECH PART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CB13E-4E4C-4F88-8E96-18A70CD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30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GPU 적용 후 처리시간 약 48% 단축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6A88FD-4606-4670-8BBE-9B680A33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16A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8123F-8EA0-4958-A0D5-3B09B17A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762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동일한 약 4.25초 영상을 CPU와 GPU에서 각각 2회 처리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BF93E-6502-413B-B20A-5255311E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24000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Grafana 측정 결과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2038350"/>
          <a:ext xmlns:a="http://schemas.openxmlformats.org/drawingml/2006/main" cx="7524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d8a4931c38d492b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4E972-B6F0-4569-B628-5D9E9FCC5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76450"/>
            <a:ext cx="0" cy="3162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0516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21448D-C6D4-4107-BAAD-20B646CB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171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2회 측정 중앙값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1627D8-1837-4CD5-BFA7-100A2CA4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860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9859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79859B"/>
                </a:solidFill>
                <a:latin typeface="Noto Sans KR"/>
                <a:ea typeface="Noto Sans KR"/>
                <a:cs typeface="Noto Sans KR"/>
              </a:rPr>
              <a:t>CPU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F7DA24-48CD-4258-8C6C-9969E915C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9908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16.876초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35B3B-46EB-481D-B6A7-8DC90CE7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8D6FF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38D6FF"/>
                </a:solidFill>
                <a:latin typeface="Noto Sans KR"/>
                <a:ea typeface="Noto Sans KR"/>
                <a:cs typeface="Noto Sans KR"/>
              </a:rPr>
              <a:t>GPU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B6F022-058C-49CB-9363-9CB5AECE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8.773초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F0F58C-F7EF-4CF9-8C26-569A30DC8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6672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8FF3E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D8FF3E"/>
                </a:solidFill>
                <a:latin typeface="Noto Sans KR"/>
                <a:ea typeface="Noto Sans KR"/>
                <a:cs typeface="Noto Sans KR"/>
              </a:rPr>
              <a:t>48.01% 단축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B35F37-AFD6-4192-9FEA-1A9A1954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0863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B7C2D0"/>
                </a:solidFill>
                <a:latin typeface="Noto Sans KR"/>
                <a:ea typeface="Noto Sans KR"/>
                <a:cs typeface="Noto Sans KR"/>
              </a:rPr>
              <a:t>두 차례 모두 비슷한 결과를 확인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6EA305-63B0-46C8-9884-2A0AF982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7263A"/>
          </a:solidFill>
          <a:ln xmlns:a="http://schemas.openxmlformats.org/drawingml/2006/main" w="14288">
            <a:solidFill>
              <a:srgbClr val="D8FF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56B543-BDBA-4BE3-A503-52C5C71DB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57875"/>
            <a:ext cx="10515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F8FAFC"/>
                </a:solidFill>
                <a:latin typeface="Noto Sans KR"/>
                <a:ea typeface="Noto Sans KR"/>
                <a:cs typeface="Noto Sans KR"/>
              </a:rPr>
              <a:t>GPU 적용으로 처리시간을 약 17초에서 9초로 줄였다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7B98A9-D085-426C-9FA3-A180CE5B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10515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8D6FF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38D6FF"/>
                </a:solidFill>
                <a:latin typeface="Noto Sans KR"/>
                <a:ea typeface="Noto Sans KR"/>
                <a:cs typeface="Noto Sans KR"/>
              </a:rPr>
              <a:t>2회 측정 중앙값 기준 48.01% 단축</a:t>
            </a:r>
          </a:p>
        </p:txBody>
      </p:sp>
    </p:spTree>
    <p:extLst>
      <p:ext uri="{BB962C8B-B14F-4D97-AF65-F5344CB8AC3E}">
        <p14:creationId xmlns:p14="http://schemas.microsoft.com/office/powerpoint/2010/main" val="12706070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2026-09-09T12:41:47.6330000Z</dcterms:created>
  <dcterms:modified xsi:type="dcterms:W3CDTF">2026-09-09T12:41:47.6330000Z</dcterms:modified>
</coreProperties>
</file>